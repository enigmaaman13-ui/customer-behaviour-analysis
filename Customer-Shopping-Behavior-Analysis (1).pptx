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Medium"/>
      <p:regular r:id="rId201314"/>
    </p:embeddedFont>
    <p:embeddedFont>
      <p:font typeface="Inter Light"/>
      <p:regular r:id="rId201315"/>
    </p:embeddedFont>
    <p:embeddedFont>
      <p:font typeface="Inter Thin"/>
      <p:regular r:id="rId201316"/>
    </p:embeddedFont>
    <p:embeddedFont>
      <p:font typeface="Inter ExtraLight"/>
      <p:regular r:id="rId201317"/>
    </p:embeddedFont>
    <p:embeddedFont>
      <p:font typeface="Inter SemiBold"/>
      <p:regular r:id="rId201318"/>
    </p:embeddedFont>
    <p:embeddedFont>
      <p:font typeface="Inter Bold"/>
      <p:regular r:id="rId201319"/>
    </p:embeddedFont>
    <p:embeddedFont>
      <p:font typeface="Inter ExtraBold"/>
      <p:regular r:id="rId201320"/>
    </p:embeddedFont>
    <p:embeddedFont>
      <p:font typeface="Inter"/>
      <p:regular r:id="rId201321"/>
    </p:embeddedFont>
    <p:embeddedFont>
      <p:font typeface="Inter Black"/>
      <p:regular r:id="rId201322"/>
    </p:embeddedFont>
    <p:embeddedFont>
      <p:font typeface="Manrope ExtraLight"/>
      <p:regular r:id="rId201323"/>
    </p:embeddedFont>
    <p:embeddedFont>
      <p:font typeface="Manrope Light"/>
      <p:regular r:id="rId201324"/>
    </p:embeddedFont>
    <p:embeddedFont>
      <p:font typeface="Manrope"/>
      <p:regular r:id="rId201325"/>
    </p:embeddedFont>
    <p:embeddedFont>
      <p:font typeface="Manrope Medium"/>
      <p:regular r:id="rId201326"/>
    </p:embeddedFont>
    <p:embeddedFont>
      <p:font typeface="Manrope SemiBold"/>
      <p:regular r:id="rId201327"/>
    </p:embeddedFont>
    <p:embeddedFont>
      <p:font typeface="Manrope Bold"/>
      <p:regular r:id="rId201328"/>
    </p:embeddedFont>
    <p:embeddedFont>
      <p:font typeface="Manrope ExtraBold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0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2.png"/><Relationship Id="rId9" Type="http://schemas.openxmlformats.org/officeDocument/2006/relationships/image" Target="../media/image-3-3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68220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Shopping Behavior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780779"/>
            <a:ext cx="472276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Uncovering spending patterns, customer segments, and product preferences across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 guide strategic business decisions.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11435"/>
            <a:ext cx="4722763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 at a Glance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496119" y="852711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3,900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496119" y="1262658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96119" y="1449884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Rows in dataset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96119" y="1752898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496119" y="2162845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6119" y="2350071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Columns per record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496119" y="2653085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₹59.76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496119" y="3063032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Avg Purchase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96119" y="3250257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Mean spend per order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96119" y="3553271"/>
            <a:ext cx="4722763" cy="3143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4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496119" y="3963219"/>
            <a:ext cx="4722763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Values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6119" y="4150444"/>
            <a:ext cx="4722763" cy="127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Review Rating column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496119" y="4349800"/>
            <a:ext cx="4722763" cy="3821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7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Key features include demographics (Age, Gender, Location, Subscription Status), purchase details (Item, Category, Amount, Season, Size, Color), and shopping behavior (Discount Applied, Promo Code, Frequency, Review Rating, Shipping Type).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5694"/>
            <a:ext cx="8151763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Python: Data Preparation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39453"/>
            <a:ext cx="5205933" cy="2928268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71580" y="992981"/>
            <a:ext cx="2680990" cy="80471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151513" y="1115764"/>
            <a:ext cx="237827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 &amp; Exploration</a:t>
            </a:r>
            <a:endParaRPr lang="en-US" sz="1050" dirty="0"/>
          </a:p>
        </p:txBody>
      </p:sp>
      <p:sp>
        <p:nvSpPr>
          <p:cNvPr id="6" name="Text 2"/>
          <p:cNvSpPr/>
          <p:nvPr/>
        </p:nvSpPr>
        <p:spPr>
          <a:xfrm>
            <a:off x="6151513" y="1368326"/>
            <a:ext cx="237827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Imported via pandas; used 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and 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structure and summary stats.</a:t>
            </a:r>
            <a:endParaRPr lang="en-US" sz="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71580" y="1880741"/>
            <a:ext cx="2680990" cy="80471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151513" y="2003524"/>
            <a:ext cx="237827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 Data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6151513" y="2256086"/>
            <a:ext cx="237827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Imputed 37 missing Review Ratings using the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median rating per product category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71580" y="2768501"/>
            <a:ext cx="2680990" cy="95800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151513" y="2891284"/>
            <a:ext cx="237827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Engineering</a:t>
            </a:r>
            <a:endParaRPr lang="en-US" sz="1050" dirty="0"/>
          </a:p>
        </p:txBody>
      </p:sp>
      <p:sp>
        <p:nvSpPr>
          <p:cNvPr id="12" name="Text 6"/>
          <p:cNvSpPr/>
          <p:nvPr/>
        </p:nvSpPr>
        <p:spPr>
          <a:xfrm>
            <a:off x="6151513" y="3143845"/>
            <a:ext cx="2378273" cy="459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Created 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(binned ages) and 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 Dropped redundant 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</a:t>
            </a:r>
            <a:endParaRPr lang="en-US" sz="8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71580" y="3809554"/>
            <a:ext cx="2680990" cy="80471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151513" y="3932337"/>
            <a:ext cx="2378273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Integration</a:t>
            </a:r>
            <a:endParaRPr lang="en-US" sz="1050" dirty="0"/>
          </a:p>
        </p:txBody>
      </p:sp>
      <p:sp>
        <p:nvSpPr>
          <p:cNvPr id="15" name="Text 8"/>
          <p:cNvSpPr/>
          <p:nvPr/>
        </p:nvSpPr>
        <p:spPr>
          <a:xfrm>
            <a:off x="6151513" y="4184898"/>
            <a:ext cx="2378273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Loaded cleaned DataFrame into </a:t>
            </a:r>
            <a:pPr algn="l" indent="0" marL="0">
              <a:lnSpc>
                <a:spcPct val="118000"/>
              </a:lnSpc>
              <a:buNone/>
            </a:pPr>
            <a:r>
              <a:rPr lang="en-US" sz="8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PostgreSQL</a:t>
            </a:r>
            <a:pPr algn="l" indent="0" marL="0">
              <a:lnSpc>
                <a:spcPct val="1180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SQL analysis.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by Gender &amp; Subscription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94830"/>
            <a:ext cx="3902943" cy="2809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49701" y="1477119"/>
            <a:ext cx="39029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49701" y="1840334"/>
            <a:ext cx="3902943" cy="1261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$157,890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in revenue — over double the 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$75,191</a:t>
            </a:r>
            <a:pPr algn="l" indent="0" marL="0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from female customers.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Non-subscribers (2,847 customers) contributed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$170,436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total revenue vs.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$62,645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from 1,053 subscribers, though average spend was nearly identical (~$59.50).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4749701" y="3261420"/>
            <a:ext cx="3902943" cy="779562"/>
          </a:xfrm>
          <a:prstGeom prst="roundRect">
            <a:avLst>
              <a:gd name="adj" fmla="val 16367"/>
            </a:avLst>
          </a:prstGeom>
          <a:solidFill>
            <a:srgbClr val="FFD7C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1460" y="3481239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0398" y="3424386"/>
            <a:ext cx="330048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839 customers used discounts yet spent above the average purchase amount.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1807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Products by Rating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844576"/>
            <a:ext cx="2622724" cy="826368"/>
          </a:xfrm>
          <a:prstGeom prst="roundRect">
            <a:avLst>
              <a:gd name="adj" fmla="val 15440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2640" y="199109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🥇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Gloves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297609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Rating: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3.86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60601" y="1844576"/>
            <a:ext cx="2622724" cy="826368"/>
          </a:xfrm>
          <a:prstGeom prst="roundRect">
            <a:avLst>
              <a:gd name="adj" fmla="val 15440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07122" y="199109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🥈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Sandals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07122" y="2297609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Rating: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3.84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25083" y="1844576"/>
            <a:ext cx="2622724" cy="826368"/>
          </a:xfrm>
          <a:prstGeom prst="roundRect">
            <a:avLst>
              <a:gd name="adj" fmla="val 15440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71605" y="1991097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🥉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Boots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171605" y="2297609"/>
            <a:ext cx="232968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Rating: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3.82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6119" y="2812703"/>
            <a:ext cx="4004965" cy="826368"/>
          </a:xfrm>
          <a:prstGeom prst="roundRect">
            <a:avLst>
              <a:gd name="adj" fmla="val 15440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640" y="2959224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2640" y="3265736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Rating: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3.80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42842" y="2812703"/>
            <a:ext cx="4004965" cy="826368"/>
          </a:xfrm>
          <a:prstGeom prst="roundRect">
            <a:avLst>
              <a:gd name="adj" fmla="val 15440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9363" y="2959224"/>
            <a:ext cx="3711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Skirt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789363" y="3265736"/>
            <a:ext cx="37119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Rating: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3.78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119" y="379854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Express shipping averaged ₹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60.48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vs. ₹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58.46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for standard — a modest ₹2 premium.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7977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Discount-Dependent Products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462906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These five products had the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highest percentage of discounted purchases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indicating strong price sensitivity among buyers.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270894"/>
            <a:ext cx="390294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Hat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50.00% discounted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Sneakers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49.66% discounted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Coat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49.07% discounted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Sweater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48.17% discounted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Pants</a:t>
            </a:r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— 47.37% discounted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1494830"/>
            <a:ext cx="3902943" cy="280935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8151763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Segmentation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27449"/>
            <a:ext cx="3986733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Segment Breakdown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479328"/>
            <a:ext cx="4443933" cy="885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Customers were classified into three tiers based on purchase history: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601739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Loyal: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3,116 customers — the dominant segment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Returning: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701 customers — repeat buyers not yet loyal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New: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83 customers — first-time or infrequent shoppers</a:t>
            </a:r>
            <a:endParaRPr lang="en-US" sz="550" dirty="0"/>
          </a:p>
        </p:txBody>
      </p:sp>
      <p:sp>
        <p:nvSpPr>
          <p:cNvPr id="7" name="Text 4"/>
          <p:cNvSpPr/>
          <p:nvPr/>
        </p:nvSpPr>
        <p:spPr>
          <a:xfrm>
            <a:off x="4665911" y="2927598"/>
            <a:ext cx="3986733" cy="177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Of repeat buyers (&gt;5 purchases),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958 subscribed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while </a:t>
            </a:r>
            <a:pPr algn="l" indent="0" marL="0">
              <a:lnSpc>
                <a:spcPct val="101000"/>
              </a:lnSpc>
              <a:buNone/>
            </a:pPr>
            <a:r>
              <a:rPr lang="en-US" sz="55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2,518 did not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suggesting subscription uptake remains an opportunity.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80840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Products by Category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2207344"/>
            <a:ext cx="838200" cy="51799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902521"/>
            <a:ext cx="19050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Accessories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209032"/>
            <a:ext cx="190500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Jewelry (171), Sunglasses (161), Belt (161)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298" y="2207344"/>
            <a:ext cx="838200" cy="5179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78298" y="290252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Clothing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578298" y="3209032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Blouse (171), Pants (171), Shirt (169)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53" y="2207344"/>
            <a:ext cx="838200" cy="5179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60553" y="290252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Footwear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660553" y="3209032"/>
            <a:ext cx="190507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Sandals (160), Shoes (150), Sneakers (145)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2807" y="2207344"/>
            <a:ext cx="838200" cy="51799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42807" y="2902521"/>
            <a:ext cx="190507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Outerwear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6742807" y="3209032"/>
            <a:ext cx="190507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Jacket (163), Coat (161)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268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Revenue by Age Group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029221"/>
            <a:ext cx="3932709" cy="283078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19935" y="1017091"/>
            <a:ext cx="3932709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 Group Insights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719935" y="1297707"/>
            <a:ext cx="3932709" cy="515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Young Adults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lead revenue at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55575A"/>
                </a:solidFill>
                <a:latin typeface="Manrope Bold" pitchFamily="34" charset="0"/>
                <a:ea typeface="Manrope Bold" pitchFamily="34" charset="-122"/>
                <a:cs typeface="Manrope Bold" pitchFamily="34" charset="-120"/>
              </a:rPr>
              <a:t>$62,143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, with a gradual decline across older groups. Revenue is relatively evenly distributed — no single age group dominates.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96119" y="4078635"/>
            <a:ext cx="4027289" cy="657597"/>
          </a:xfrm>
          <a:prstGeom prst="roundRect">
            <a:avLst>
              <a:gd name="adj" fmla="val 1606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18232" y="4200748"/>
            <a:ext cx="378306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3.9K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18232" y="4442445"/>
            <a:ext cx="37830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Total Customers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620592" y="4078635"/>
            <a:ext cx="4027289" cy="657597"/>
          </a:xfrm>
          <a:prstGeom prst="roundRect">
            <a:avLst>
              <a:gd name="adj" fmla="val 16068"/>
            </a:avLst>
          </a:prstGeom>
          <a:solidFill>
            <a:srgbClr val="FFFFFF"/>
          </a:solidFill>
          <a:ln w="4763">
            <a:solidFill>
              <a:srgbClr val="FF704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42706" y="4200748"/>
            <a:ext cx="3783062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3.75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742706" y="4442445"/>
            <a:ext cx="3783062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Avg Review Rating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31081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C0D0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Recommendations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757586"/>
            <a:ext cx="283518" cy="2835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56816" y="1806253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Boost Subscriptions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956816" y="2112764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Promote exclusive subscriber benefits to convert the 73% non-subscribed base.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72433" y="1757586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733130" y="1806253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Loyalty Programs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733130" y="2112764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Reward repeat buyers to move them into the "Loyal" segment (currently 3,116 customers).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48747" y="1757586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09445" y="1806253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Discount Policy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509445" y="2112764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Balance sales boosts with margin control — nearly 50% of top products rely on discounts.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076724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6816" y="3125391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Marketing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956816" y="3431902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Focus on high-revenue age groups (Young Adults) and express-shipping users.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72433" y="3076724"/>
            <a:ext cx="283518" cy="2835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33130" y="3125391"/>
            <a:ext cx="213843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55575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 Positioning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3733130" y="3431902"/>
            <a:ext cx="213843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Highlight top-rated items (Gloves, Sandals, Boots) and best-sellers in campaigns.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2026-07-23T19:32:14Z</dcterms:created>
  <dcterms:modified xsi:type="dcterms:W3CDTF">2026-07-23T19:32:14Z</dcterms:modified>
</cp:coreProperties>
</file>